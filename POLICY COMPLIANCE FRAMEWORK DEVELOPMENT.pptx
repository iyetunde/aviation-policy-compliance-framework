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68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21A9-1513-4624-9FDF-298122A261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F10B0-7F66-47E6-B39A-2475A520D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1BABF-A4B9-4423-8437-E69CF7F8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0AA29-73E7-423C-AC5F-6333A13F1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B79F0-F3E0-4FB1-8A80-BC159EC5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73146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83A3-B34D-4721-B656-8706B6A5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3508D-2361-4E23-BFDC-77A7FA1EE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ED6FD-4D8B-4388-BD94-5010B7E55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C1644-5562-40EB-972D-3E7BE515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2FD0D-3E6C-4A4E-A81F-815B5E4E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1844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D70B-B8A6-4B13-BF9A-7BE3AF40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B6004-AE85-419C-8012-68EDCC6B3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6535E-F157-4C22-9C2F-9F0EBA64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82854-6334-472A-8E69-BB2DA0AA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51F72-4E22-45F6-878F-8C1ECD1E4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99558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5F52-1CDF-4125-A1DC-CA587DCE7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2A404-118A-4F0B-91C0-C7AFF0E71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A09B5-DE89-45E4-A50B-985734BFA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B3A23-A974-4656-A39F-AD291BE6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B2C42-780A-4F29-84EE-C76C1BB3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2F7C5-2D86-40A9-A8F8-FEC17F559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297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C702-32A3-484B-A572-BF2374D8C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EB1F0-AB84-4F53-B281-CF44B2553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95285-08DF-418F-B868-EE162652F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0EBC7A-3CA3-47E1-AFEC-38B15391F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5931FE-EBC9-4E1F-B593-4700F7953C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5A5411-8EF4-4BCD-A01F-B8EDA49B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8AFE68-1D33-4697-9CAC-CCC4BD408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AED03A-9386-4D8F-9596-4676545F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4047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7C9E-6A0D-46D0-AF3F-5A49A0C16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35558-EAA0-486C-ABCA-21C69D249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1D17B-04C9-4A85-9F22-EFD5B40C3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601EF-87F4-4E4C-ABCF-81273BB10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38066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40975-AAC1-4E63-B20A-B2C7E8A49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65FF3-AAD1-480C-B9D1-6916799F6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B2A41-B8EB-4190-BE8C-82F6D54E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7900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5E50-C0F1-49EC-ACCB-30E19B479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C90D3-B5C2-40E2-A951-7039A9F8D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2ADFF-0528-4C74-867D-1CD68927B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55092-57A7-4C70-8F64-907AF0DFE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2500E-DF4C-43C4-A277-86746789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EA6EE-0545-4375-A6DD-587BD47D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50109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CDE41-EC7A-4418-B0F6-9273E2DE6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8451C6-CF9C-4BE6-98AA-78E5EC3B5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503B9-78D6-4441-818A-4CA55849C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C6291-2AD5-4282-B533-C898BFB7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8ACD3-C94D-426B-94B8-BF5AF2EF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49A63-BED5-4774-8F27-306FD195E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0440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A8BFB-6511-4720-BCDE-6E2C32E5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AACB8-42B4-4F19-A213-344ED3284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A6D0E-A914-4C95-A0EB-9950FC23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401E9-7FA5-479F-8CC9-83E291C92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F93A6-B29B-4D20-B44F-112BBC27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74176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67D44-2DB2-431A-BBA3-EAE521660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CA7AA6-D7E6-4BED-A2F6-3490E2082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90A1A-5611-4452-AEE4-58C09E835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E7CE6-3F6B-4AC8-9C42-28C8A0B65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42B60-426B-436D-A40B-0F10497A7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457939-8048-41EA-9D92-1F2772C61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15C7C-DC68-46E9-99FD-B855AA861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4CDA0-14C4-42AF-8DD6-6B08D61B5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B99E8-AEA4-4854-B382-032E783E54DA}" type="datetimeFigureOut">
              <a:rPr lang="en-NG" smtClean="0"/>
              <a:t>17/04/2026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E18F0-374F-4982-99DC-1573760C6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38A91-42DD-4F76-BD62-E63C2D79D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5991C-F1F9-4C16-BF00-1A0479EEEC64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09024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B263-E451-42E0-8898-AC67CED04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POLICY COMPLIANCE FRAMEWORK DEVELOPMENT</a:t>
            </a:r>
            <a:endParaRPr lang="en-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36178-63D3-4C7E-99D7-120A4105EF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2600" b="1" dirty="0" err="1"/>
              <a:t>Gobuy</a:t>
            </a:r>
            <a:r>
              <a:rPr lang="en-US" sz="2600" b="1" dirty="0"/>
              <a:t> Aviation</a:t>
            </a:r>
          </a:p>
          <a:p>
            <a:pPr algn="l"/>
            <a:r>
              <a:rPr lang="en-US" sz="2600" dirty="0"/>
              <a:t>             Designing a Risk-Driven Compliance Framework for an Aviation Environment</a:t>
            </a:r>
          </a:p>
          <a:p>
            <a:r>
              <a:rPr lang="en-US" sz="2600" dirty="0"/>
              <a:t>Presented by</a:t>
            </a:r>
          </a:p>
          <a:p>
            <a:r>
              <a:rPr lang="en-US" sz="2600" dirty="0" err="1"/>
              <a:t>Iyetunde</a:t>
            </a:r>
            <a:r>
              <a:rPr lang="en-US" sz="2600" dirty="0"/>
              <a:t> Adeyemi</a:t>
            </a:r>
          </a:p>
          <a:p>
            <a:r>
              <a:rPr lang="en-US" sz="2600" dirty="0"/>
              <a:t>April 9, 2026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3783085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D2C5-60CD-4A0E-B389-A884257A2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EXECUTIVE SUMMARY</a:t>
            </a:r>
            <a:endParaRPr lang="en-NG" b="1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3A5930-7EF6-42FA-A1B7-F8D1F0434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 err="1"/>
              <a:t>Gobuy</a:t>
            </a:r>
            <a:r>
              <a:rPr lang="en-US" sz="1900" dirty="0"/>
              <a:t> aviation currently lacks a structured and enforceable policy compliance framework, creating potential risks across operational, security, and regulatory areas.</a:t>
            </a:r>
          </a:p>
          <a:p>
            <a:pPr marL="0" indent="0">
              <a:buNone/>
            </a:pPr>
            <a:r>
              <a:rPr lang="en-US" sz="1900" dirty="0"/>
              <a:t>To address this, a comprehensive Policy Compliance Framework was developed to:</a:t>
            </a:r>
          </a:p>
          <a:p>
            <a:r>
              <a:rPr lang="en-US" sz="1900" dirty="0"/>
              <a:t>Establish and </a:t>
            </a:r>
            <a:r>
              <a:rPr lang="en-US" sz="1900" dirty="0" err="1"/>
              <a:t>standardise</a:t>
            </a:r>
            <a:r>
              <a:rPr lang="en-US" sz="1900" dirty="0"/>
              <a:t> key information security and operational policies </a:t>
            </a:r>
          </a:p>
          <a:p>
            <a:r>
              <a:rPr lang="en-US" sz="1900" dirty="0"/>
              <a:t>Ensure alignment with industry standards and regulatory expectations </a:t>
            </a:r>
          </a:p>
          <a:p>
            <a:r>
              <a:rPr lang="en-US" sz="1900" dirty="0"/>
              <a:t>Define clear roles, responsibilities, and accountability </a:t>
            </a:r>
          </a:p>
          <a:p>
            <a:r>
              <a:rPr lang="en-US" sz="1900" dirty="0"/>
              <a:t>Enable continuous monitoring and enforcement of policy compliance </a:t>
            </a:r>
          </a:p>
          <a:p>
            <a:pPr marL="0" indent="0">
              <a:buNone/>
            </a:pPr>
            <a:r>
              <a:rPr lang="en-US" sz="1900" dirty="0"/>
              <a:t>The framework introduces a </a:t>
            </a:r>
            <a:r>
              <a:rPr lang="en-US" sz="1900" b="1" dirty="0"/>
              <a:t>risk-driven</a:t>
            </a:r>
            <a:r>
              <a:rPr lang="en-US" sz="1900" dirty="0"/>
              <a:t> approach to monitoring critical activities such as access control, system configuration, incident management, and data protection.</a:t>
            </a:r>
          </a:p>
          <a:p>
            <a:pPr marL="0" indent="0">
              <a:buNone/>
            </a:pPr>
            <a:r>
              <a:rPr lang="en-US" sz="1900" dirty="0"/>
              <a:t>This ensures improved regulatory readiness, reduced operational risk, and stronger </a:t>
            </a:r>
            <a:r>
              <a:rPr lang="en-US" sz="1900" dirty="0" err="1"/>
              <a:t>organisational</a:t>
            </a:r>
            <a:r>
              <a:rPr lang="en-US" sz="1900" dirty="0"/>
              <a:t> resilience.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496177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A90D6-427D-4D5F-AE7B-B360D499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the Policy Compliance Framework</a:t>
            </a:r>
            <a:endParaRPr lang="en-NG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6E13C8-0AEA-461F-A6BD-F8D74A3858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08497"/>
            <a:ext cx="10477548" cy="358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ensure alignment with aviation regulatory requirements and industry best practices </a:t>
            </a:r>
            <a:endParaRPr kumimoji="0" lang="en-US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G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define clear roles, responsibilities, and accountability for policy enforcement </a:t>
            </a:r>
            <a:endParaRPr kumimoji="0" lang="en-US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G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enable continuous monitoring and reporting of compliance activities </a:t>
            </a:r>
            <a:endParaRPr kumimoji="0" lang="en-US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G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reduce operational, security, and regulatory risks </a:t>
            </a:r>
            <a:endParaRPr kumimoji="0" lang="en-US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G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strengthen organisational resilience and compliance culture </a:t>
            </a:r>
            <a:endParaRPr kumimoji="0" lang="en-US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NG" altLang="en-NG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establish a structured and consistent approach to policy compliance across </a:t>
            </a:r>
            <a:r>
              <a:rPr kumimoji="0" lang="en-NG" altLang="en-NG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Gobuy</a:t>
            </a:r>
            <a:r>
              <a:rPr kumimoji="0" lang="en-NG" altLang="en-NG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Aviation </a:t>
            </a:r>
          </a:p>
        </p:txBody>
      </p:sp>
    </p:spTree>
    <p:extLst>
      <p:ext uri="{BB962C8B-B14F-4D97-AF65-F5344CB8AC3E}">
        <p14:creationId xmlns:p14="http://schemas.microsoft.com/office/powerpoint/2010/main" val="123741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25A3-5812-4903-B867-86C7376F9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Scope of the Policy Compliance Framework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4821-51C2-43AE-A1DC-3007576BE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This framework applies to all critical operations and systems within </a:t>
            </a:r>
            <a:r>
              <a:rPr lang="en-US" sz="2000" dirty="0" err="1"/>
              <a:t>Gobuy</a:t>
            </a:r>
            <a:r>
              <a:rPr lang="en-US" sz="2000" dirty="0"/>
              <a:t> Aviation, including</a:t>
            </a:r>
            <a:r>
              <a:rPr lang="en-US" sz="2000" b="1" dirty="0"/>
              <a:t>: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Information security and data protection across all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Identity and access management for staff and operational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Secure configuration of IT infrastructure and aviation support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Incident detection, reporting, and response processes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Management of privileged accounts and administrative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Information classification and handling of sensitive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Employee compliance with </a:t>
            </a:r>
            <a:r>
              <a:rPr lang="en-US" sz="2000" dirty="0" err="1"/>
              <a:t>organisational</a:t>
            </a:r>
            <a:r>
              <a:rPr lang="en-US" sz="2000" dirty="0"/>
              <a:t> security policies</a:t>
            </a:r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4044679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B883C7-0217-4EEF-9383-D1C7090F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Information Security Policies Developed</a:t>
            </a:r>
            <a:endParaRPr lang="en-NG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36CF67A-46FE-4604-8222-961720DD4AA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3047186"/>
            <a:ext cx="4118692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Security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Classification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Identity and Access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Privileged Account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Configuration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A52196B-2A8F-489C-B9A2-47E440B84F7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0" y="3047186"/>
            <a:ext cx="3749744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NG" altLang="en-N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Desk and Clear Screen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Artificial Intelligence Usage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Protection and Privacy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NG" altLang="en-N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Third-Party Risk Management </a:t>
            </a:r>
          </a:p>
        </p:txBody>
      </p:sp>
    </p:spTree>
    <p:extLst>
      <p:ext uri="{BB962C8B-B14F-4D97-AF65-F5344CB8AC3E}">
        <p14:creationId xmlns:p14="http://schemas.microsoft.com/office/powerpoint/2010/main" val="134773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C2A2-E9B2-4941-8CFD-A01C3196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Policy Domains and ISO 27002 Mapping</a:t>
            </a:r>
            <a:endParaRPr lang="en-NG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E06D423-A738-42ED-9111-3A97A33E9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7088573"/>
              </p:ext>
            </p:extLst>
          </p:nvPr>
        </p:nvGraphicFramePr>
        <p:xfrm>
          <a:off x="838200" y="1825625"/>
          <a:ext cx="10515597" cy="488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98989226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50365078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553902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Policy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ISO 27002 Control Theme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Relevant Control Area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21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Information Security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Organizational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Policies for Information Security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719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Information Classification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Organizational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Classification of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84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Identity &amp; Access Management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Technological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Identity Management &amp; Access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89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Privileged Account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Technological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Privileged Access Rights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15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Secure Configuration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Technological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Configuration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656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Incident Management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Organizational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Incident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65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Clear Desk &amp; Clear Screen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Physical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Clear Desk &amp; Clear Screen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39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Artificial Intelligence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Organizational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Governance &amp; Emerging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6582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Data Protection &amp; Privacy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Organizational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Privacy &amp; Protection of PII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49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Third-Party Risk Management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Organizational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Supplier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477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57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514EB-CF1E-4DA9-8A98-D5CB2D49C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Policy Compliance Framework;</a:t>
            </a:r>
            <a:r>
              <a:rPr lang="en-US" sz="3100" b="1" dirty="0"/>
              <a:t> aligned to ISO 27002 monitoring and compliance requirements</a:t>
            </a:r>
            <a:endParaRPr lang="en-NG" sz="3100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9AEC84-040A-45A9-86A6-0847AE363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495858"/>
              </p:ext>
            </p:extLst>
          </p:nvPr>
        </p:nvGraphicFramePr>
        <p:xfrm>
          <a:off x="838200" y="1825625"/>
          <a:ext cx="10515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1232172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3490851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086346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824989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34387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Policy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Compliance Activity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Owner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Frequency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Evidence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21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IAM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User access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IAM Specialist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Monthly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Access review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624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Privileged Account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Admin account audit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Security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Monthly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Audit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418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Incident Management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Incident monitoring &amp;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Security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Incident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124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Secure Configuration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System configuration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 Operations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Weekly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Configuration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930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Data Protection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classification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Compliance Officer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Quarterly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Classification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8059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22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216B-0BAC-4D2C-A687-AABEB7F2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Artificial Intelligence Policy ; </a:t>
            </a:r>
            <a:r>
              <a:rPr lang="it-IT" sz="3100" b="1" dirty="0"/>
              <a:t>aligned with ISO 42001</a:t>
            </a:r>
            <a:endParaRPr lang="en-NG" sz="3100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61DB49B-9B12-4113-8E87-4DB95B6677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0478918"/>
              </p:ext>
            </p:extLst>
          </p:nvPr>
        </p:nvGraphicFramePr>
        <p:xfrm>
          <a:off x="838200" y="1825625"/>
          <a:ext cx="10515600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3684436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28974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290319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58056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40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Policy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Compliance Activity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Owner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Frequency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Evidence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547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Artificial Intelligence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Monitoring AI tool usage and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 Governance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Monthly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AI usage 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25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Artificial Intelligence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Review of data shared with AI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Compliance Officer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Monthly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handling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10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Artificial Intelligence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Approval and onboarding of AI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IT Governance / Risk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Approval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250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Artificial Intelligence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AI risk and impact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Risk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Quarterly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Risk assessment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419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Artificial Intelligence Policy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Policy compliance audit for AI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Internal Audit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Annually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Audit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9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664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ADE4-F454-490B-99FA-B9C46EC5F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Recommendations for Effective Implementation</a:t>
            </a:r>
            <a:endParaRPr lang="en-N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4931-C81F-4582-ABAA-A51026938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To ensure successful implementation of the framework, several key actions are recommended;</a:t>
            </a:r>
          </a:p>
          <a:p>
            <a:r>
              <a:rPr lang="en-US" sz="2200" dirty="0"/>
              <a:t>Establish a dedicated compliance and governance team to oversee policy enforcement</a:t>
            </a:r>
          </a:p>
          <a:p>
            <a:r>
              <a:rPr lang="en-US" sz="2200" dirty="0"/>
              <a:t>Conduct regular training and awareness programs for all employees</a:t>
            </a:r>
          </a:p>
          <a:p>
            <a:r>
              <a:rPr lang="en-US" sz="2200" dirty="0"/>
              <a:t>Implement automated tools for continuous monitoring and reporting of compliance activities</a:t>
            </a:r>
          </a:p>
          <a:p>
            <a:r>
              <a:rPr lang="en-US" sz="2200" dirty="0"/>
              <a:t>Perform periodic audits and reviews to ensure alignment with policies and standards</a:t>
            </a:r>
          </a:p>
          <a:p>
            <a:r>
              <a:rPr lang="en-US" sz="2200" dirty="0"/>
              <a:t>Strengthen third-party risk management and vendor compliance processes</a:t>
            </a:r>
          </a:p>
          <a:p>
            <a:r>
              <a:rPr lang="en-US" sz="2200" dirty="0"/>
              <a:t>Continuously update policies to address emerging risks, including AI governance</a:t>
            </a:r>
          </a:p>
          <a:p>
            <a:endParaRPr lang="en-US" sz="2200" dirty="0"/>
          </a:p>
          <a:p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2596406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666</Words>
  <Application>Microsoft Office PowerPoint</Application>
  <PresentationFormat>Widescreen</PresentationFormat>
  <Paragraphs>155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POLICY COMPLIANCE FRAMEWORK DEVELOPMENT</vt:lpstr>
      <vt:lpstr>EXECUTIVE SUMMARY</vt:lpstr>
      <vt:lpstr>Objectives of the Policy Compliance Framework</vt:lpstr>
      <vt:lpstr>Scope of the Policy Compliance Framework</vt:lpstr>
      <vt:lpstr>Information Security Policies Developed</vt:lpstr>
      <vt:lpstr>Policy Domains and ISO 27002 Mapping</vt:lpstr>
      <vt:lpstr>Policy Compliance Framework; aligned to ISO 27002 monitoring and compliance requirements</vt:lpstr>
      <vt:lpstr>Artificial Intelligence Policy ; aligned with ISO 42001</vt:lpstr>
      <vt:lpstr>Recommendations for Effective Implementation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POLICY COMPLIANCE FRAMEWORK DEVELOPMENT</dc:title>
  <dc:creator>yetunde makun</dc:creator>
  <cp:lastModifiedBy>yetunde makun</cp:lastModifiedBy>
  <cp:revision>2</cp:revision>
  <dcterms:created xsi:type="dcterms:W3CDTF">2026-04-09T09:27:14Z</dcterms:created>
  <dcterms:modified xsi:type="dcterms:W3CDTF">2026-04-17T18:59:02Z</dcterms:modified>
</cp:coreProperties>
</file>